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61" r:id="rId2"/>
    <p:sldId id="257" r:id="rId3"/>
    <p:sldId id="266" r:id="rId4"/>
    <p:sldId id="269" r:id="rId5"/>
    <p:sldId id="271" r:id="rId6"/>
    <p:sldId id="272" r:id="rId7"/>
    <p:sldId id="275" r:id="rId8"/>
    <p:sldId id="280" r:id="rId9"/>
    <p:sldId id="279" r:id="rId10"/>
    <p:sldId id="276" r:id="rId11"/>
    <p:sldId id="277" r:id="rId12"/>
    <p:sldId id="273" r:id="rId13"/>
    <p:sldId id="278"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06" autoAdjust="0"/>
  </p:normalViewPr>
  <p:slideViewPr>
    <p:cSldViewPr snapToGrid="0">
      <p:cViewPr varScale="1">
        <p:scale>
          <a:sx n="78" d="100"/>
          <a:sy n="78" d="100"/>
        </p:scale>
        <p:origin x="878" y="82"/>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3/5/2026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2</a:t>
            </a:fld>
            <a:endParaRPr lang="en-US"/>
          </a:p>
        </p:txBody>
      </p:sp>
    </p:spTree>
    <p:extLst>
      <p:ext uri="{BB962C8B-B14F-4D97-AF65-F5344CB8AC3E}">
        <p14:creationId xmlns:p14="http://schemas.microsoft.com/office/powerpoint/2010/main" val="1980303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3/5/2026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3/5/2026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3/5/2026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3/5/2026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3/5/2026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3/5/2026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3/5/2026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3/5/2026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3/5/2026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3845" y="1925310"/>
            <a:ext cx="10580998" cy="2177660"/>
          </a:xfrm>
        </p:spPr>
        <p:txBody>
          <a:bodyPr>
            <a:normAutofit/>
          </a:bodyPr>
          <a:lstStyle/>
          <a:p>
            <a:r>
              <a:rPr lang="en-US" sz="3600" dirty="0"/>
              <a:t> From Votes to Value : Restaurant Analytics</a:t>
            </a:r>
            <a:br>
              <a:rPr lang="en-US" sz="3600" dirty="0"/>
            </a:br>
            <a:r>
              <a:rPr lang="en-US" sz="3600" dirty="0"/>
              <a:t>                     </a:t>
            </a:r>
            <a:br>
              <a:rPr lang="en-US" sz="3600" dirty="0"/>
            </a:br>
            <a:r>
              <a:rPr lang="en-US" sz="3600" dirty="0"/>
              <a:t>                     </a:t>
            </a:r>
            <a:r>
              <a:rPr lang="en-IN" sz="2800" dirty="0"/>
              <a:t>Minor Project Presentation</a:t>
            </a:r>
            <a:br>
              <a:rPr lang="en-IN" sz="3600" dirty="0"/>
            </a:br>
            <a:endParaRPr lang="en-US" sz="3600" dirty="0"/>
          </a:p>
        </p:txBody>
      </p:sp>
      <p:sp>
        <p:nvSpPr>
          <p:cNvPr id="3" name="Subtitle 2"/>
          <p:cNvSpPr>
            <a:spLocks noGrp="1"/>
          </p:cNvSpPr>
          <p:nvPr>
            <p:ph type="subTitle" idx="1"/>
          </p:nvPr>
        </p:nvSpPr>
        <p:spPr>
          <a:xfrm>
            <a:off x="4347995" y="4102970"/>
            <a:ext cx="4237415" cy="457200"/>
          </a:xfrm>
        </p:spPr>
        <p:txBody>
          <a:bodyPr>
            <a:normAutofit/>
          </a:bodyPr>
          <a:lstStyle/>
          <a:p>
            <a:r>
              <a:rPr lang="en-US" sz="1800" dirty="0"/>
              <a:t>DEPARTMENT OF DATA SCIENCE</a:t>
            </a:r>
          </a:p>
        </p:txBody>
      </p:sp>
      <p:pic>
        <p:nvPicPr>
          <p:cNvPr id="5" name="Picture 4">
            <a:extLst>
              <a:ext uri="{FF2B5EF4-FFF2-40B4-BE49-F238E27FC236}">
                <a16:creationId xmlns:a16="http://schemas.microsoft.com/office/drawing/2014/main" id="{2E65CBED-5EC5-DA26-CC1D-920E4F3C8AF6}"/>
              </a:ext>
            </a:extLst>
          </p:cNvPr>
          <p:cNvPicPr>
            <a:picLocks noChangeAspect="1"/>
          </p:cNvPicPr>
          <p:nvPr/>
        </p:nvPicPr>
        <p:blipFill>
          <a:blip r:embed="rId2"/>
          <a:stretch>
            <a:fillRect/>
          </a:stretch>
        </p:blipFill>
        <p:spPr>
          <a:xfrm>
            <a:off x="3486150" y="176409"/>
            <a:ext cx="6614306" cy="1110431"/>
          </a:xfrm>
          <a:prstGeom prst="rect">
            <a:avLst/>
          </a:prstGeom>
        </p:spPr>
      </p:pic>
      <p:pic>
        <p:nvPicPr>
          <p:cNvPr id="7" name="Picture 6">
            <a:extLst>
              <a:ext uri="{FF2B5EF4-FFF2-40B4-BE49-F238E27FC236}">
                <a16:creationId xmlns:a16="http://schemas.microsoft.com/office/drawing/2014/main" id="{CE152958-C650-1D84-47A9-2F4E11186780}"/>
              </a:ext>
            </a:extLst>
          </p:cNvPr>
          <p:cNvPicPr>
            <a:picLocks noChangeAspect="1"/>
          </p:cNvPicPr>
          <p:nvPr/>
        </p:nvPicPr>
        <p:blipFill>
          <a:blip r:embed="rId3"/>
          <a:stretch>
            <a:fillRect/>
          </a:stretch>
        </p:blipFill>
        <p:spPr>
          <a:xfrm>
            <a:off x="1983350" y="176409"/>
            <a:ext cx="1410201" cy="1195850"/>
          </a:xfrm>
          <a:prstGeom prst="rect">
            <a:avLst/>
          </a:prstGeom>
        </p:spPr>
      </p:pic>
      <p:sp>
        <p:nvSpPr>
          <p:cNvPr id="9" name="TextBox 8">
            <a:extLst>
              <a:ext uri="{FF2B5EF4-FFF2-40B4-BE49-F238E27FC236}">
                <a16:creationId xmlns:a16="http://schemas.microsoft.com/office/drawing/2014/main" id="{844CF223-DABD-7F96-FDA3-08A0006F9C7E}"/>
              </a:ext>
            </a:extLst>
          </p:cNvPr>
          <p:cNvSpPr txBox="1"/>
          <p:nvPr/>
        </p:nvSpPr>
        <p:spPr>
          <a:xfrm>
            <a:off x="9935497" y="5561441"/>
            <a:ext cx="2915265" cy="646331"/>
          </a:xfrm>
          <a:prstGeom prst="rect">
            <a:avLst/>
          </a:prstGeom>
          <a:noFill/>
        </p:spPr>
        <p:txBody>
          <a:bodyPr wrap="square">
            <a:spAutoFit/>
          </a:bodyPr>
          <a:lstStyle/>
          <a:p>
            <a:r>
              <a:rPr lang="en-IN" dirty="0">
                <a:latin typeface="Bahnschrift" panose="020B0502040204020203" pitchFamily="34" charset="0"/>
              </a:rPr>
              <a:t>PRESENTED BY:</a:t>
            </a:r>
          </a:p>
          <a:p>
            <a:r>
              <a:rPr lang="en-IN" dirty="0">
                <a:latin typeface="Bahnschrift" panose="020B0502040204020203" pitchFamily="34" charset="0"/>
              </a:rPr>
              <a:t>FATHIMA - 18</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r>
              <a:rPr lang="en-US" sz="2400" dirty="0"/>
              <a:t>In today’s data-driven environment, analytics and machine learning play a vital role in understanding customer behavior and improving business outcomes. The restaurant industry, influenced by digital platforms and changing consumer preferences, offers rich opportunities for data-driven analysis. This project, </a:t>
            </a:r>
            <a:r>
              <a:rPr lang="en-US" sz="2400" i="1" dirty="0"/>
              <a:t>“From Votes to Value: Restaurant Analytics,”</a:t>
            </a:r>
            <a:r>
              <a:rPr lang="en-US" sz="2400" dirty="0"/>
              <a:t> examines how factors such as customer ratings, online ordering, pricing, and service types contribute to restaurant success.</a:t>
            </a:r>
          </a:p>
          <a:p>
            <a:endParaRPr lang="en-US" dirty="0"/>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7490F-C721-82FE-79BF-E7593085CAC0}"/>
              </a:ext>
            </a:extLst>
          </p:cNvPr>
          <p:cNvSpPr>
            <a:spLocks noGrp="1"/>
          </p:cNvSpPr>
          <p:nvPr>
            <p:ph type="title"/>
          </p:nvPr>
        </p:nvSpPr>
        <p:spPr/>
        <p:txBody>
          <a:bodyPr/>
          <a:lstStyle/>
          <a:p>
            <a:r>
              <a:rPr lang="en-IN" dirty="0"/>
              <a:t>Tools</a:t>
            </a:r>
          </a:p>
        </p:txBody>
      </p:sp>
      <p:sp>
        <p:nvSpPr>
          <p:cNvPr id="3" name="Content Placeholder 2">
            <a:extLst>
              <a:ext uri="{FF2B5EF4-FFF2-40B4-BE49-F238E27FC236}">
                <a16:creationId xmlns:a16="http://schemas.microsoft.com/office/drawing/2014/main" id="{475EABBE-E931-8125-6CEA-275D9C755020}"/>
              </a:ext>
            </a:extLst>
          </p:cNvPr>
          <p:cNvSpPr>
            <a:spLocks noGrp="1"/>
          </p:cNvSpPr>
          <p:nvPr>
            <p:ph idx="1"/>
          </p:nvPr>
        </p:nvSpPr>
        <p:spPr/>
        <p:txBody>
          <a:bodyPr>
            <a:normAutofit/>
          </a:bodyPr>
          <a:lstStyle/>
          <a:p>
            <a:r>
              <a:rPr lang="en-US" sz="2400" dirty="0"/>
              <a:t>The study begins with Exploratory Data Analysis (EDA) to uncover patterns, trends, and relationships within the data using tools such as Python and Tableau. Building on these insights, a Random Forest machine learning algorithm is applied to model and predict restaurant performance based on key features. The combined use of EDA and Random Forest highlights that restaurant success is driven by a balanced mix of affordability, service quality, popularity, and consistent customer engagement.</a:t>
            </a:r>
            <a:endParaRPr lang="en-IN" sz="2400" dirty="0"/>
          </a:p>
        </p:txBody>
      </p:sp>
    </p:spTree>
    <p:extLst>
      <p:ext uri="{BB962C8B-B14F-4D97-AF65-F5344CB8AC3E}">
        <p14:creationId xmlns:p14="http://schemas.microsoft.com/office/powerpoint/2010/main" val="2553145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1AE9-B56F-40D0-7D66-1A70704499CB}"/>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E71D4C18-2482-F558-0AC7-CA34249CB935}"/>
              </a:ext>
            </a:extLst>
          </p:cNvPr>
          <p:cNvSpPr>
            <a:spLocks noGrp="1"/>
          </p:cNvSpPr>
          <p:nvPr>
            <p:ph idx="1"/>
          </p:nvPr>
        </p:nvSpPr>
        <p:spPr/>
        <p:txBody>
          <a:bodyPr/>
          <a:lstStyle/>
          <a:p>
            <a:r>
              <a:rPr lang="en-US" sz="2400" dirty="0"/>
              <a:t>Is online ordering alone enough for restaurant success?</a:t>
            </a:r>
          </a:p>
          <a:p>
            <a:r>
              <a:rPr lang="en-US" sz="2400" dirty="0"/>
              <a:t>What factors truly affect customer engagement?</a:t>
            </a:r>
          </a:p>
          <a:p>
            <a:r>
              <a:rPr lang="en-US" sz="2400" dirty="0"/>
              <a:t>The core problem, therefore, lies in identifying and interpreting the key factors—both service-related and consumer-driven—that influence the success or failure of restaurants, particularly those operating in an online-first environment. We aim to determine whether customer votes, ratings, price range, and restaurant type play a more significant role than digital convenience alone.</a:t>
            </a:r>
          </a:p>
          <a:p>
            <a:endParaRPr lang="en-IN" dirty="0"/>
          </a:p>
        </p:txBody>
      </p:sp>
    </p:spTree>
    <p:extLst>
      <p:ext uri="{BB962C8B-B14F-4D97-AF65-F5344CB8AC3E}">
        <p14:creationId xmlns:p14="http://schemas.microsoft.com/office/powerpoint/2010/main" val="153797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0203-EC11-B365-DC4B-346CBA75E47A}"/>
              </a:ext>
            </a:extLst>
          </p:cNvPr>
          <p:cNvSpPr>
            <a:spLocks noGrp="1"/>
          </p:cNvSpPr>
          <p:nvPr>
            <p:ph type="title"/>
          </p:nvPr>
        </p:nvSpPr>
        <p:spPr/>
        <p:txBody>
          <a:bodyPr/>
          <a:lstStyle/>
          <a:p>
            <a:r>
              <a:rPr lang="en-IN" dirty="0"/>
              <a:t>Objectives </a:t>
            </a:r>
          </a:p>
        </p:txBody>
      </p:sp>
      <p:sp>
        <p:nvSpPr>
          <p:cNvPr id="3" name="Content Placeholder 2">
            <a:extLst>
              <a:ext uri="{FF2B5EF4-FFF2-40B4-BE49-F238E27FC236}">
                <a16:creationId xmlns:a16="http://schemas.microsoft.com/office/drawing/2014/main" id="{1787AA8D-8A77-6375-C7F5-46B4A611C80B}"/>
              </a:ext>
            </a:extLst>
          </p:cNvPr>
          <p:cNvSpPr>
            <a:spLocks noGrp="1"/>
          </p:cNvSpPr>
          <p:nvPr>
            <p:ph idx="1"/>
          </p:nvPr>
        </p:nvSpPr>
        <p:spPr>
          <a:xfrm>
            <a:off x="1295400" y="1981201"/>
            <a:ext cx="9601200" cy="3200399"/>
          </a:xfrm>
        </p:spPr>
        <p:txBody>
          <a:bodyPr/>
          <a:lstStyle/>
          <a:p>
            <a:r>
              <a:rPr lang="en-US" sz="2800" dirty="0"/>
              <a:t>Study impact of online ordering &amp; table booking</a:t>
            </a:r>
          </a:p>
          <a:p>
            <a:r>
              <a:rPr lang="en-US" sz="2800" dirty="0"/>
              <a:t>Analyze cost vs ratings</a:t>
            </a:r>
          </a:p>
          <a:p>
            <a:r>
              <a:rPr lang="en-US" sz="2800" dirty="0"/>
              <a:t>Identify success factors</a:t>
            </a:r>
          </a:p>
          <a:p>
            <a:r>
              <a:rPr lang="en-US" sz="2800" dirty="0"/>
              <a:t>Build a prediction model</a:t>
            </a:r>
          </a:p>
          <a:p>
            <a:endParaRPr lang="en-IN" dirty="0"/>
          </a:p>
        </p:txBody>
      </p:sp>
    </p:spTree>
    <p:extLst>
      <p:ext uri="{BB962C8B-B14F-4D97-AF65-F5344CB8AC3E}">
        <p14:creationId xmlns:p14="http://schemas.microsoft.com/office/powerpoint/2010/main" val="1742076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B79F-7CDE-8352-1794-090042DC0545}"/>
              </a:ext>
            </a:extLst>
          </p:cNvPr>
          <p:cNvSpPr>
            <a:spLocks noGrp="1"/>
          </p:cNvSpPr>
          <p:nvPr>
            <p:ph type="title"/>
          </p:nvPr>
        </p:nvSpPr>
        <p:spPr/>
        <p:txBody>
          <a:bodyPr/>
          <a:lstStyle/>
          <a:p>
            <a:r>
              <a:rPr lang="en-IN" dirty="0"/>
              <a:t>Data Collection , Data Cleaning &amp; Transformation</a:t>
            </a:r>
          </a:p>
        </p:txBody>
      </p:sp>
      <p:sp>
        <p:nvSpPr>
          <p:cNvPr id="3" name="Content Placeholder 2">
            <a:extLst>
              <a:ext uri="{FF2B5EF4-FFF2-40B4-BE49-F238E27FC236}">
                <a16:creationId xmlns:a16="http://schemas.microsoft.com/office/drawing/2014/main" id="{C8EB38A1-EF81-AF29-C028-F7B6D281D35C}"/>
              </a:ext>
            </a:extLst>
          </p:cNvPr>
          <p:cNvSpPr>
            <a:spLocks noGrp="1"/>
          </p:cNvSpPr>
          <p:nvPr>
            <p:ph idx="1"/>
          </p:nvPr>
        </p:nvSpPr>
        <p:spPr/>
        <p:txBody>
          <a:bodyPr>
            <a:normAutofit/>
          </a:bodyPr>
          <a:lstStyle/>
          <a:p>
            <a:r>
              <a:rPr lang="en-IN" sz="2800" dirty="0"/>
              <a:t>Source: Kaggle</a:t>
            </a:r>
          </a:p>
          <a:p>
            <a:r>
              <a:rPr lang="en-IN" sz="2800" dirty="0"/>
              <a:t>148 restaurant records</a:t>
            </a:r>
          </a:p>
          <a:p>
            <a:r>
              <a:rPr lang="en-IN" sz="2800" dirty="0"/>
              <a:t>Ratings, votes, cost, service type</a:t>
            </a:r>
          </a:p>
          <a:p>
            <a:r>
              <a:rPr lang="en-US" sz="2800" dirty="0"/>
              <a:t>Converted ratings to numeric values</a:t>
            </a:r>
          </a:p>
          <a:p>
            <a:r>
              <a:rPr lang="en-US" sz="2800" dirty="0"/>
              <a:t>Created high rating feature</a:t>
            </a:r>
          </a:p>
          <a:p>
            <a:r>
              <a:rPr lang="en-US" sz="2800" dirty="0"/>
              <a:t>Removed inconsistencies</a:t>
            </a:r>
          </a:p>
          <a:p>
            <a:endParaRPr lang="en-IN" sz="2800" dirty="0"/>
          </a:p>
          <a:p>
            <a:endParaRPr lang="en-IN" sz="2800" dirty="0"/>
          </a:p>
        </p:txBody>
      </p:sp>
    </p:spTree>
    <p:extLst>
      <p:ext uri="{BB962C8B-B14F-4D97-AF65-F5344CB8AC3E}">
        <p14:creationId xmlns:p14="http://schemas.microsoft.com/office/powerpoint/2010/main" val="1051723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E6AB-509D-887D-9411-049250452AB7}"/>
              </a:ext>
            </a:extLst>
          </p:cNvPr>
          <p:cNvSpPr>
            <a:spLocks noGrp="1"/>
          </p:cNvSpPr>
          <p:nvPr>
            <p:ph type="title"/>
          </p:nvPr>
        </p:nvSpPr>
        <p:spPr/>
        <p:txBody>
          <a:bodyPr/>
          <a:lstStyle/>
          <a:p>
            <a:r>
              <a:rPr lang="en-IN" dirty="0"/>
              <a:t>Exploratory Data Analysis (EDA)</a:t>
            </a:r>
          </a:p>
        </p:txBody>
      </p:sp>
      <p:sp>
        <p:nvSpPr>
          <p:cNvPr id="3" name="Content Placeholder 2">
            <a:extLst>
              <a:ext uri="{FF2B5EF4-FFF2-40B4-BE49-F238E27FC236}">
                <a16:creationId xmlns:a16="http://schemas.microsoft.com/office/drawing/2014/main" id="{C6AD02E0-62D9-A496-15C4-0E1C2F5B5F2D}"/>
              </a:ext>
            </a:extLst>
          </p:cNvPr>
          <p:cNvSpPr>
            <a:spLocks noGrp="1"/>
          </p:cNvSpPr>
          <p:nvPr>
            <p:ph idx="1"/>
          </p:nvPr>
        </p:nvSpPr>
        <p:spPr/>
        <p:txBody>
          <a:bodyPr>
            <a:normAutofit/>
          </a:bodyPr>
          <a:lstStyle/>
          <a:p>
            <a:r>
              <a:rPr lang="en-US" sz="2400" b="1" dirty="0"/>
              <a:t>Univariate:</a:t>
            </a:r>
            <a:r>
              <a:rPr lang="en-US" sz="2400" dirty="0"/>
              <a:t> Analyzed restaurant types, ratings, and price ranges to understand customer preferences and spending patterns.</a:t>
            </a:r>
          </a:p>
          <a:p>
            <a:r>
              <a:rPr lang="en-US" sz="2400" b="1" dirty="0"/>
              <a:t>Bivariate:</a:t>
            </a:r>
            <a:r>
              <a:rPr lang="en-US" sz="2400" dirty="0"/>
              <a:t> Compared ratings and cost to assess the impact of services like table booking.</a:t>
            </a:r>
          </a:p>
          <a:p>
            <a:r>
              <a:rPr lang="en-US" sz="2400" b="1" dirty="0"/>
              <a:t>Multivariate:</a:t>
            </a:r>
            <a:r>
              <a:rPr lang="en-US" sz="2400" dirty="0"/>
              <a:t> Used a heatmap to examine restaurant types and online ordering behavior.</a:t>
            </a:r>
          </a:p>
          <a:p>
            <a:r>
              <a:rPr lang="en-US" sz="2400" dirty="0"/>
              <a:t>EDA revealed key trends in pricing, customer satisfaction, and service features.</a:t>
            </a:r>
          </a:p>
        </p:txBody>
      </p:sp>
    </p:spTree>
    <p:extLst>
      <p:ext uri="{BB962C8B-B14F-4D97-AF65-F5344CB8AC3E}">
        <p14:creationId xmlns:p14="http://schemas.microsoft.com/office/powerpoint/2010/main" val="115963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EF8635-1046-A8C2-06CA-A6B5BF6F37EF}"/>
              </a:ext>
            </a:extLst>
          </p:cNvPr>
          <p:cNvSpPr txBox="1"/>
          <p:nvPr/>
        </p:nvSpPr>
        <p:spPr>
          <a:xfrm>
            <a:off x="5039032" y="353961"/>
            <a:ext cx="2428567" cy="461665"/>
          </a:xfrm>
          <a:prstGeom prst="rect">
            <a:avLst/>
          </a:prstGeom>
          <a:noFill/>
        </p:spPr>
        <p:txBody>
          <a:bodyPr wrap="square" rtlCol="0">
            <a:spAutoFit/>
          </a:bodyPr>
          <a:lstStyle/>
          <a:p>
            <a:r>
              <a:rPr lang="en-IN" sz="2400" b="1" dirty="0">
                <a:solidFill>
                  <a:schemeClr val="accent1"/>
                </a:solidFill>
              </a:rPr>
              <a:t>Visualization</a:t>
            </a:r>
          </a:p>
        </p:txBody>
      </p:sp>
      <p:pic>
        <p:nvPicPr>
          <p:cNvPr id="4" name="Picture 3">
            <a:extLst>
              <a:ext uri="{FF2B5EF4-FFF2-40B4-BE49-F238E27FC236}">
                <a16:creationId xmlns:a16="http://schemas.microsoft.com/office/drawing/2014/main" id="{2D7898DF-130C-111D-F31D-0E2D7E1EEBC3}"/>
              </a:ext>
            </a:extLst>
          </p:cNvPr>
          <p:cNvPicPr>
            <a:picLocks noChangeAspect="1"/>
          </p:cNvPicPr>
          <p:nvPr/>
        </p:nvPicPr>
        <p:blipFill>
          <a:blip r:embed="rId2"/>
          <a:stretch>
            <a:fillRect/>
          </a:stretch>
        </p:blipFill>
        <p:spPr>
          <a:xfrm>
            <a:off x="220256" y="1129701"/>
            <a:ext cx="5551279" cy="4455536"/>
          </a:xfrm>
          <a:prstGeom prst="rect">
            <a:avLst/>
          </a:prstGeom>
        </p:spPr>
      </p:pic>
      <p:pic>
        <p:nvPicPr>
          <p:cNvPr id="6" name="Picture 5">
            <a:extLst>
              <a:ext uri="{FF2B5EF4-FFF2-40B4-BE49-F238E27FC236}">
                <a16:creationId xmlns:a16="http://schemas.microsoft.com/office/drawing/2014/main" id="{D7D93CAF-CF64-AD67-AEE8-E9BAE0E684F5}"/>
              </a:ext>
            </a:extLst>
          </p:cNvPr>
          <p:cNvPicPr>
            <a:picLocks noChangeAspect="1"/>
          </p:cNvPicPr>
          <p:nvPr/>
        </p:nvPicPr>
        <p:blipFill>
          <a:blip r:embed="rId3"/>
          <a:stretch>
            <a:fillRect/>
          </a:stretch>
        </p:blipFill>
        <p:spPr>
          <a:xfrm>
            <a:off x="5870602" y="1051222"/>
            <a:ext cx="6101142" cy="4534015"/>
          </a:xfrm>
          <a:prstGeom prst="rect">
            <a:avLst/>
          </a:prstGeom>
        </p:spPr>
      </p:pic>
    </p:spTree>
    <p:extLst>
      <p:ext uri="{BB962C8B-B14F-4D97-AF65-F5344CB8AC3E}">
        <p14:creationId xmlns:p14="http://schemas.microsoft.com/office/powerpoint/2010/main" val="125234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86D068-5558-C4A1-03F0-8288C46C38EC}"/>
              </a:ext>
            </a:extLst>
          </p:cNvPr>
          <p:cNvPicPr>
            <a:picLocks noChangeAspect="1"/>
          </p:cNvPicPr>
          <p:nvPr/>
        </p:nvPicPr>
        <p:blipFill>
          <a:blip r:embed="rId2"/>
          <a:stretch>
            <a:fillRect/>
          </a:stretch>
        </p:blipFill>
        <p:spPr>
          <a:xfrm>
            <a:off x="315379" y="763513"/>
            <a:ext cx="5043202" cy="5330973"/>
          </a:xfrm>
          <a:prstGeom prst="rect">
            <a:avLst/>
          </a:prstGeom>
        </p:spPr>
      </p:pic>
      <p:pic>
        <p:nvPicPr>
          <p:cNvPr id="5" name="Picture 4">
            <a:extLst>
              <a:ext uri="{FF2B5EF4-FFF2-40B4-BE49-F238E27FC236}">
                <a16:creationId xmlns:a16="http://schemas.microsoft.com/office/drawing/2014/main" id="{E18CDACE-E720-F5E3-A198-267128DBD375}"/>
              </a:ext>
            </a:extLst>
          </p:cNvPr>
          <p:cNvPicPr>
            <a:picLocks noChangeAspect="1"/>
          </p:cNvPicPr>
          <p:nvPr/>
        </p:nvPicPr>
        <p:blipFill>
          <a:blip r:embed="rId3"/>
          <a:stretch>
            <a:fillRect/>
          </a:stretch>
        </p:blipFill>
        <p:spPr>
          <a:xfrm>
            <a:off x="5545946" y="1042218"/>
            <a:ext cx="6330675" cy="5052267"/>
          </a:xfrm>
          <a:prstGeom prst="rect">
            <a:avLst/>
          </a:prstGeom>
        </p:spPr>
      </p:pic>
    </p:spTree>
    <p:extLst>
      <p:ext uri="{BB962C8B-B14F-4D97-AF65-F5344CB8AC3E}">
        <p14:creationId xmlns:p14="http://schemas.microsoft.com/office/powerpoint/2010/main" val="226446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2187F-1A71-8FEE-8098-DA120C182E74}"/>
              </a:ext>
            </a:extLst>
          </p:cNvPr>
          <p:cNvSpPr>
            <a:spLocks noGrp="1"/>
          </p:cNvSpPr>
          <p:nvPr>
            <p:ph type="title"/>
          </p:nvPr>
        </p:nvSpPr>
        <p:spPr>
          <a:xfrm>
            <a:off x="990600" y="-19440"/>
            <a:ext cx="9601200" cy="1142385"/>
          </a:xfrm>
        </p:spPr>
        <p:txBody>
          <a:bodyPr/>
          <a:lstStyle/>
          <a:p>
            <a:r>
              <a:rPr lang="en-IN" dirty="0"/>
              <a:t>Predictive </a:t>
            </a:r>
            <a:r>
              <a:rPr lang="en-IN" dirty="0" err="1"/>
              <a:t>Modeling</a:t>
            </a:r>
            <a:r>
              <a:rPr lang="en-IN" dirty="0"/>
              <a:t> – Random Forest</a:t>
            </a:r>
          </a:p>
        </p:txBody>
      </p:sp>
      <p:sp>
        <p:nvSpPr>
          <p:cNvPr id="3" name="Content Placeholder 2">
            <a:extLst>
              <a:ext uri="{FF2B5EF4-FFF2-40B4-BE49-F238E27FC236}">
                <a16:creationId xmlns:a16="http://schemas.microsoft.com/office/drawing/2014/main" id="{2A214623-14B6-2E77-8DB2-C6F3A09CF340}"/>
              </a:ext>
            </a:extLst>
          </p:cNvPr>
          <p:cNvSpPr>
            <a:spLocks noGrp="1"/>
          </p:cNvSpPr>
          <p:nvPr>
            <p:ph idx="1"/>
          </p:nvPr>
        </p:nvSpPr>
        <p:spPr>
          <a:xfrm>
            <a:off x="990600" y="1459831"/>
            <a:ext cx="10623884" cy="4347412"/>
          </a:xfrm>
        </p:spPr>
        <p:txBody>
          <a:bodyPr>
            <a:normAutofit fontScale="92500" lnSpcReduction="20000"/>
          </a:bodyPr>
          <a:lstStyle/>
          <a:p>
            <a:r>
              <a:rPr lang="en-US" sz="2600" dirty="0"/>
              <a:t>The goal was to predict restaurant success for outlets </a:t>
            </a:r>
            <a:r>
              <a:rPr lang="en-US" sz="2600" b="1" dirty="0"/>
              <a:t>with online ordering but no table booking</a:t>
            </a:r>
            <a:r>
              <a:rPr lang="en-US" sz="2600" dirty="0"/>
              <a:t>.</a:t>
            </a:r>
          </a:p>
          <a:p>
            <a:r>
              <a:rPr lang="en-US" sz="2600" dirty="0"/>
              <a:t>Success was defined using a binary variable </a:t>
            </a:r>
            <a:r>
              <a:rPr lang="en-US" sz="2600" b="1" dirty="0" err="1"/>
              <a:t>is_successful</a:t>
            </a:r>
            <a:r>
              <a:rPr lang="en-US" sz="2600" dirty="0"/>
              <a:t> (rating &gt; 4.0 and votes &gt; 200).</a:t>
            </a:r>
          </a:p>
          <a:p>
            <a:r>
              <a:rPr lang="en-US" sz="2600" dirty="0"/>
              <a:t>Key features included </a:t>
            </a:r>
            <a:r>
              <a:rPr lang="en-US" sz="2600" b="1" dirty="0"/>
              <a:t>cost for two</a:t>
            </a:r>
            <a:r>
              <a:rPr lang="en-US" sz="2600" dirty="0"/>
              <a:t> and </a:t>
            </a:r>
            <a:r>
              <a:rPr lang="en-US" sz="2600" b="1" dirty="0"/>
              <a:t>restaurant type</a:t>
            </a:r>
            <a:r>
              <a:rPr lang="en-US" sz="2600" dirty="0"/>
              <a:t>, with categorical variables label-encoded.</a:t>
            </a:r>
          </a:p>
          <a:p>
            <a:r>
              <a:rPr lang="en-US" sz="2600" dirty="0"/>
              <a:t>A </a:t>
            </a:r>
            <a:r>
              <a:rPr lang="en-US" sz="2600" b="1" dirty="0"/>
              <a:t>Random Forest Classifier</a:t>
            </a:r>
            <a:r>
              <a:rPr lang="en-US" sz="2600" dirty="0"/>
              <a:t> was trained and evaluated using a classification report and confusion matrix.</a:t>
            </a:r>
          </a:p>
          <a:p>
            <a:r>
              <a:rPr lang="en-US" sz="2600" dirty="0"/>
              <a:t>Feature importance analysis highlighted the factors most influencing restaurant success.</a:t>
            </a:r>
          </a:p>
          <a:p>
            <a:r>
              <a:rPr lang="en-US" sz="2600" dirty="0"/>
              <a:t>This model helps identify effective pricing and service strategies that drive customer engagement.</a:t>
            </a:r>
          </a:p>
          <a:p>
            <a:endParaRPr lang="en-IN" dirty="0"/>
          </a:p>
        </p:txBody>
      </p:sp>
    </p:spTree>
    <p:extLst>
      <p:ext uri="{BB962C8B-B14F-4D97-AF65-F5344CB8AC3E}">
        <p14:creationId xmlns:p14="http://schemas.microsoft.com/office/powerpoint/2010/main" val="1715846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7D7B1-C08F-D3CD-923F-0CF0E510098F}"/>
              </a:ext>
            </a:extLst>
          </p:cNvPr>
          <p:cNvSpPr>
            <a:spLocks noGrp="1"/>
          </p:cNvSpPr>
          <p:nvPr>
            <p:ph type="title"/>
          </p:nvPr>
        </p:nvSpPr>
        <p:spPr/>
        <p:txBody>
          <a:bodyPr/>
          <a:lstStyle/>
          <a:p>
            <a:r>
              <a:rPr lang="en-US" dirty="0"/>
              <a:t>Findings &amp; Insights from the Predictive Model</a:t>
            </a:r>
            <a:endParaRPr lang="en-IN" dirty="0"/>
          </a:p>
        </p:txBody>
      </p:sp>
      <p:sp>
        <p:nvSpPr>
          <p:cNvPr id="3" name="Content Placeholder 2">
            <a:extLst>
              <a:ext uri="{FF2B5EF4-FFF2-40B4-BE49-F238E27FC236}">
                <a16:creationId xmlns:a16="http://schemas.microsoft.com/office/drawing/2014/main" id="{E18B3B0F-530D-2E32-D804-C27625E298B1}"/>
              </a:ext>
            </a:extLst>
          </p:cNvPr>
          <p:cNvSpPr>
            <a:spLocks noGrp="1"/>
          </p:cNvSpPr>
          <p:nvPr>
            <p:ph idx="1"/>
          </p:nvPr>
        </p:nvSpPr>
        <p:spPr/>
        <p:txBody>
          <a:bodyPr>
            <a:normAutofit/>
          </a:bodyPr>
          <a:lstStyle/>
          <a:p>
            <a:r>
              <a:rPr lang="en-US" sz="2400" dirty="0"/>
              <a:t>Customer Engagement Strongly Influences Success</a:t>
            </a:r>
          </a:p>
          <a:p>
            <a:r>
              <a:rPr lang="en-US" sz="2400" dirty="0"/>
              <a:t>Average Cost for Two Shows Mixed Influence</a:t>
            </a:r>
          </a:p>
          <a:p>
            <a:r>
              <a:rPr lang="en-US" sz="2400" dirty="0"/>
              <a:t>Restaurant Type (</a:t>
            </a:r>
            <a:r>
              <a:rPr lang="en-US" sz="2400" dirty="0" err="1"/>
              <a:t>listed_in</a:t>
            </a:r>
            <a:r>
              <a:rPr lang="en-US" sz="2400" dirty="0"/>
              <a:t>(type)) Affects Success Patterns</a:t>
            </a:r>
          </a:p>
          <a:p>
            <a:r>
              <a:rPr lang="en-US" sz="2400" dirty="0"/>
              <a:t>High Rating Alone Is Not Sufficient</a:t>
            </a:r>
          </a:p>
          <a:p>
            <a:r>
              <a:rPr lang="en-IN" sz="2400" dirty="0"/>
              <a:t>Feature Importance Confirms Service Strategy Relevance</a:t>
            </a:r>
          </a:p>
          <a:p>
            <a:r>
              <a:rPr lang="en-IN" sz="2400" dirty="0"/>
              <a:t>Model Captured Patterns Accurately</a:t>
            </a:r>
          </a:p>
        </p:txBody>
      </p:sp>
    </p:spTree>
    <p:extLst>
      <p:ext uri="{BB962C8B-B14F-4D97-AF65-F5344CB8AC3E}">
        <p14:creationId xmlns:p14="http://schemas.microsoft.com/office/powerpoint/2010/main" val="171651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65730-45A9-67A9-CD0C-C12EABECC5EC}"/>
              </a:ext>
            </a:extLst>
          </p:cNvPr>
          <p:cNvSpPr>
            <a:spLocks noGrp="1"/>
          </p:cNvSpPr>
          <p:nvPr>
            <p:ph type="title"/>
          </p:nvPr>
        </p:nvSpPr>
        <p:spPr>
          <a:xfrm>
            <a:off x="1295400" y="213173"/>
            <a:ext cx="3308684" cy="1142385"/>
          </a:xfrm>
        </p:spPr>
        <p:txBody>
          <a:bodyPr/>
          <a:lstStyle/>
          <a:p>
            <a:r>
              <a:rPr lang="en-IN" dirty="0"/>
              <a:t>Conclusion</a:t>
            </a:r>
          </a:p>
        </p:txBody>
      </p:sp>
      <p:sp>
        <p:nvSpPr>
          <p:cNvPr id="3" name="Content Placeholder 2">
            <a:extLst>
              <a:ext uri="{FF2B5EF4-FFF2-40B4-BE49-F238E27FC236}">
                <a16:creationId xmlns:a16="http://schemas.microsoft.com/office/drawing/2014/main" id="{CADEACD3-5F49-B926-C254-033350FC02AC}"/>
              </a:ext>
            </a:extLst>
          </p:cNvPr>
          <p:cNvSpPr>
            <a:spLocks noGrp="1"/>
          </p:cNvSpPr>
          <p:nvPr>
            <p:ph idx="1"/>
          </p:nvPr>
        </p:nvSpPr>
        <p:spPr>
          <a:xfrm>
            <a:off x="1295400" y="1692443"/>
            <a:ext cx="9601200" cy="3809999"/>
          </a:xfrm>
        </p:spPr>
        <p:txBody>
          <a:bodyPr>
            <a:normAutofit lnSpcReduction="10000"/>
          </a:bodyPr>
          <a:lstStyle/>
          <a:p>
            <a:pPr marL="0" indent="0">
              <a:buNone/>
            </a:pPr>
            <a:r>
              <a:rPr lang="en-US" sz="2400" dirty="0"/>
              <a:t>After visualizing restaurant trends and analyzing success patterns, we built a predictive model focusing on restaurants that offer online ordering but not table booking. The results suggest that: </a:t>
            </a:r>
          </a:p>
          <a:p>
            <a:r>
              <a:rPr lang="en-US" sz="2400" dirty="0"/>
              <a:t>Most such restaurants are less likely to be successful. </a:t>
            </a:r>
          </a:p>
          <a:p>
            <a:r>
              <a:rPr lang="en-US" sz="2400" dirty="0"/>
              <a:t>The cost of dining and service type are influential factors. </a:t>
            </a:r>
          </a:p>
          <a:p>
            <a:r>
              <a:rPr lang="en-US" sz="2400" dirty="0"/>
              <a:t>Offering only online ordering may not be sufficient to ensure profitability.</a:t>
            </a:r>
          </a:p>
          <a:p>
            <a:r>
              <a:rPr lang="en-US" sz="2400" dirty="0"/>
              <a:t>Our model achieved 73% accuracy, though limited by class imbalance.</a:t>
            </a:r>
            <a:endParaRPr lang="en-IN" sz="2400" dirty="0"/>
          </a:p>
        </p:txBody>
      </p:sp>
    </p:spTree>
    <p:extLst>
      <p:ext uri="{BB962C8B-B14F-4D97-AF65-F5344CB8AC3E}">
        <p14:creationId xmlns:p14="http://schemas.microsoft.com/office/powerpoint/2010/main" val="741934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560425-D933-5E63-6262-C0CBA7071738}"/>
              </a:ext>
            </a:extLst>
          </p:cNvPr>
          <p:cNvSpPr>
            <a:spLocks noGrp="1"/>
          </p:cNvSpPr>
          <p:nvPr>
            <p:ph idx="1"/>
          </p:nvPr>
        </p:nvSpPr>
        <p:spPr>
          <a:xfrm>
            <a:off x="657726" y="1201152"/>
            <a:ext cx="10254916" cy="4455695"/>
          </a:xfrm>
        </p:spPr>
        <p:txBody>
          <a:bodyPr>
            <a:normAutofit/>
          </a:bodyPr>
          <a:lstStyle/>
          <a:p>
            <a:r>
              <a:rPr lang="en-US" sz="2400" dirty="0"/>
              <a:t>This project provided valuable insights into restaurant success patterns, especially for those relying solely on online ordering. Through exploratory analysis, we discovered that while online ordering is a popular service model, it does not guarantee success without complementary factors like competitive pricing, service type, and strong customer engagement. </a:t>
            </a:r>
          </a:p>
          <a:p>
            <a:r>
              <a:rPr lang="en-US" sz="2400" dirty="0"/>
              <a:t>The predictive model, achieving 73% accuracy, revealed that restaurants with higher ratings, vote counts, and aligned service types (like quick bites or delivery) are more likely to be successful. However, the analysis also highlighted challenges such as class imbalance and limited features.</a:t>
            </a:r>
            <a:endParaRPr lang="en-IN" sz="2400" dirty="0"/>
          </a:p>
        </p:txBody>
      </p:sp>
    </p:spTree>
    <p:extLst>
      <p:ext uri="{BB962C8B-B14F-4D97-AF65-F5344CB8AC3E}">
        <p14:creationId xmlns:p14="http://schemas.microsoft.com/office/powerpoint/2010/main" val="839319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501D-B3A5-C8E5-C622-A5AFE54ADC53}"/>
              </a:ext>
            </a:extLst>
          </p:cNvPr>
          <p:cNvSpPr>
            <a:spLocks noGrp="1"/>
          </p:cNvSpPr>
          <p:nvPr>
            <p:ph type="title"/>
          </p:nvPr>
        </p:nvSpPr>
        <p:spPr>
          <a:xfrm>
            <a:off x="4251159" y="2543289"/>
            <a:ext cx="4347410" cy="1142385"/>
          </a:xfrm>
        </p:spPr>
        <p:txBody>
          <a:bodyPr>
            <a:normAutofit/>
          </a:bodyPr>
          <a:lstStyle/>
          <a:p>
            <a:r>
              <a:rPr lang="en-IN" sz="4000" dirty="0"/>
              <a:t>THANK YOU</a:t>
            </a:r>
          </a:p>
        </p:txBody>
      </p:sp>
    </p:spTree>
    <p:extLst>
      <p:ext uri="{BB962C8B-B14F-4D97-AF65-F5344CB8AC3E}">
        <p14:creationId xmlns:p14="http://schemas.microsoft.com/office/powerpoint/2010/main" val="2901880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613</TotalTime>
  <Words>722</Words>
  <Application>Microsoft Office PowerPoint</Application>
  <PresentationFormat>Widescreen</PresentationFormat>
  <Paragraphs>54</Paragraphs>
  <Slides>14</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Bahnschrift</vt:lpstr>
      <vt:lpstr>Diamond Grid 16x9</vt:lpstr>
      <vt:lpstr> From Votes to Value : Restaurant Analytics                                            Minor Project Presentation </vt:lpstr>
      <vt:lpstr>Introduction</vt:lpstr>
      <vt:lpstr>Tools</vt:lpstr>
      <vt:lpstr>Problem Statement</vt:lpstr>
      <vt:lpstr>Objectives </vt:lpstr>
      <vt:lpstr>Data Collection , Data Cleaning &amp; Transformation</vt:lpstr>
      <vt:lpstr>Exploratory Data Analysis (EDA)</vt:lpstr>
      <vt:lpstr>PowerPoint Presentation</vt:lpstr>
      <vt:lpstr>PowerPoint Presentation</vt:lpstr>
      <vt:lpstr>Predictive Modeling – Random Forest</vt:lpstr>
      <vt:lpstr>Findings &amp; Insights from the Predictive Model</vt:lpstr>
      <vt:lpstr>Conclusion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for IoT Applications</dc:title>
  <dc:creator>fatima zahra</dc:creator>
  <cp:lastModifiedBy>fatima zahra</cp:lastModifiedBy>
  <cp:revision>5</cp:revision>
  <dcterms:created xsi:type="dcterms:W3CDTF">2025-07-24T12:07:33Z</dcterms:created>
  <dcterms:modified xsi:type="dcterms:W3CDTF">2026-03-05T17:50:45Z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